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33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59" d="100"/>
          <a:sy n="59" d="100"/>
        </p:scale>
        <p:origin x="1500" y="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443491" y="796631"/>
            <a:ext cx="6251304" cy="2700706"/>
          </a:xfrm>
        </p:spPr>
        <p:txBody>
          <a:bodyPr bIns="0"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43491" y="3497337"/>
            <a:ext cx="6251304" cy="1011489"/>
          </a:xfrm>
        </p:spPr>
        <p:txBody>
          <a:bodyPr tIns="91440" bIns="91440">
            <a:normAutofit/>
          </a:bodyPr>
          <a:lstStyle>
            <a:lvl1pPr marL="0" indent="0" algn="ctr">
              <a:buNone/>
              <a:defRPr sz="1600" b="0">
                <a:solidFill>
                  <a:schemeClr val="tx1"/>
                </a:solidFill>
              </a:defRPr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443490" y="329308"/>
            <a:ext cx="3719283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477760" y="798973"/>
            <a:ext cx="802005" cy="503578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97146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604059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2" y="1756130"/>
            <a:ext cx="6251302" cy="1952270"/>
          </a:xfrm>
        </p:spPr>
        <p:txBody>
          <a:bodyPr anchor="b">
            <a:normAutofit/>
          </a:bodyPr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34318" y="3708400"/>
            <a:ext cx="6251302" cy="1110725"/>
          </a:xfrm>
        </p:spPr>
        <p:txBody>
          <a:bodyPr tIns="91440">
            <a:normAutofit/>
          </a:bodyPr>
          <a:lstStyle>
            <a:lvl1pPr marL="0" indent="0" algn="ctr">
              <a:buNone/>
              <a:defRPr sz="1800">
                <a:solidFill>
                  <a:schemeClr val="tx1"/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859172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890"/>
            <a:ext cx="6251303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3491" y="2013936"/>
            <a:ext cx="2965632" cy="34375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29162" y="2013936"/>
            <a:ext cx="2965424" cy="343755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62679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3491" y="804164"/>
            <a:ext cx="6251303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9550"/>
            <a:ext cx="2965631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3491" y="2824270"/>
            <a:ext cx="2965631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9270" y="2023004"/>
            <a:ext cx="2965523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9270" y="2821491"/>
            <a:ext cx="2965523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3660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13316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613389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39042" y="798973"/>
            <a:ext cx="2425950" cy="2406519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186656" y="798974"/>
            <a:ext cx="3506719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39042" y="3205492"/>
            <a:ext cx="2421501" cy="2248181"/>
          </a:xfrm>
        </p:spPr>
        <p:txBody>
          <a:bodyPr>
            <a:normAutofit/>
          </a:bodyPr>
          <a:lstStyle>
            <a:lvl1pPr marL="0" indent="0" algn="l">
              <a:buNone/>
              <a:defRPr sz="16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39429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4996501" y="482171"/>
            <a:ext cx="3511387" cy="5149101"/>
            <a:chOff x="4996501" y="482171"/>
            <a:chExt cx="3511387" cy="5149101"/>
          </a:xfrm>
        </p:grpSpPr>
        <p:sp>
          <p:nvSpPr>
            <p:cNvPr id="14" name="Rectangle 13"/>
            <p:cNvSpPr/>
            <p:nvPr/>
          </p:nvSpPr>
          <p:spPr>
            <a:xfrm>
              <a:off x="4996501" y="482171"/>
              <a:ext cx="3511387" cy="5149101"/>
            </a:xfrm>
            <a:prstGeom prst="rect">
              <a:avLst/>
            </a:prstGeom>
            <a:blipFill dpi="0" rotWithShape="1">
              <a:blip r:embed="rId2">
                <a:alphaModFix amt="30000"/>
              </a:blip>
              <a:srcRect/>
              <a:tile tx="0" ty="0" sx="100000" sy="100000" flip="none" algn="ctr"/>
            </a:blip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 extrusionH="76200" contourW="12700" prstMaterial="matte">
              <a:bevelT w="152400" h="50800" prst="softRound"/>
              <a:extrusionClr>
                <a:schemeClr val="tx2"/>
              </a:extrusionClr>
              <a:contourClr>
                <a:schemeClr val="bg2"/>
              </a:contourClr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Rectangle 14"/>
            <p:cNvSpPr/>
            <p:nvPr/>
          </p:nvSpPr>
          <p:spPr>
            <a:xfrm>
              <a:off x="5312152" y="812506"/>
              <a:ext cx="2883013" cy="4479361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38100" cmpd="sng">
              <a:solidFill>
                <a:schemeClr val="tx2">
                  <a:lumMod val="25000"/>
                </a:schemeClr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149" y="1129513"/>
            <a:ext cx="3080490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640128" y="1122543"/>
            <a:ext cx="2234998" cy="3866327"/>
          </a:xfrm>
          <a:solidFill>
            <a:schemeClr val="bg1">
              <a:lumMod val="50000"/>
              <a:lumOff val="50000"/>
              <a:alpha val="80000"/>
            </a:schemeClr>
          </a:solidFill>
          <a:ln w="9525" cap="sq">
            <a:noFill/>
            <a:miter lim="800000"/>
          </a:ln>
          <a:effectLst/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3200" dirty="0"/>
            </a:lvl1pPr>
          </a:lstStyle>
          <a:p>
            <a:pPr lvl="0" algn="ctr" defTabSz="914400">
              <a:spcBef>
                <a:spcPts val="1800"/>
              </a:spcBef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3492" y="3145992"/>
            <a:ext cx="3076077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36664" y="5469857"/>
            <a:ext cx="3082905" cy="320123"/>
          </a:xfrm>
        </p:spPr>
        <p:txBody>
          <a:bodyPr/>
          <a:lstStyle>
            <a:lvl1pPr algn="l">
              <a:defRPr/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37530" y="318641"/>
            <a:ext cx="3082083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19315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87041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92373" y="798974"/>
            <a:ext cx="1103027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3492" y="798974"/>
            <a:ext cx="4985762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683657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3622291"/>
            <a:ext cx="9144000" cy="251227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>
                  <a:alpha val="80000"/>
                </a:schemeClr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11" name="Picture 10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769" b="-2769"/>
          <a:stretch/>
        </p:blipFill>
        <p:spPr>
          <a:xfrm>
            <a:off x="0" y="6135624"/>
            <a:ext cx="9144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43491" y="804520"/>
            <a:ext cx="6251303" cy="104923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3491" y="2015733"/>
            <a:ext cx="6251303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326502" y="330370"/>
            <a:ext cx="2368292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5/8/2026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43491" y="329308"/>
            <a:ext cx="3719283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7725" y="798973"/>
            <a:ext cx="795746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cxnSp>
        <p:nvCxnSpPr>
          <p:cNvPr id="12" name="Straight Connector 11"/>
          <p:cNvCxnSpPr/>
          <p:nvPr/>
        </p:nvCxnSpPr>
        <p:spPr>
          <a:xfrm>
            <a:off x="0" y="6144768"/>
            <a:ext cx="9144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702566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34" r:id="rId1"/>
    <p:sldLayoutId id="2147483735" r:id="rId2"/>
    <p:sldLayoutId id="2147483736" r:id="rId3"/>
    <p:sldLayoutId id="2147483737" r:id="rId4"/>
    <p:sldLayoutId id="2147483738" r:id="rId5"/>
    <p:sldLayoutId id="2147483739" r:id="rId6"/>
    <p:sldLayoutId id="2147483740" r:id="rId7"/>
    <p:sldLayoutId id="2147483741" r:id="rId8"/>
    <p:sldLayoutId id="2147483742" r:id="rId9"/>
    <p:sldLayoutId id="2147483743" r:id="rId10"/>
    <p:sldLayoutId id="2147483744" r:id="rId11"/>
  </p:sldLayoutIdLst>
  <p:txStyles>
    <p:titleStyle>
      <a:lvl1pPr algn="ctr" defTabSz="6858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accent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6858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6858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3000"/>
            </a:pPr>
            <a:r>
              <a:t>AWS Systems Manager (SSM)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Enterprise-Grade Server Management and Automation using AWS Systems Manager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Introduction to AWS Systems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AWS Systems Manager is a fully managed operational management service provided by AWS.</a:t>
            </a:r>
          </a:p>
          <a:p>
            <a:pPr>
              <a:defRPr sz="1800"/>
            </a:pPr>
            <a:r>
              <a:t>It enables administrators to securely manage EC2 instances and AWS resources at scale.</a:t>
            </a:r>
          </a:p>
          <a:p>
            <a:pPr>
              <a:defRPr sz="1800"/>
            </a:pPr>
            <a:r>
              <a:t>Supports automation, patch management, remote administration, and centralized operational control.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Business Need for Systems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Managing large numbers of EC2 instances manually becomes complex and insecure.</a:t>
            </a:r>
          </a:p>
          <a:p>
            <a:pPr>
              <a:defRPr sz="1800"/>
            </a:pPr>
            <a:r>
              <a:t>Traditional SSH-based administration increases operational overhead and security risks.</a:t>
            </a:r>
          </a:p>
          <a:p>
            <a:pPr>
              <a:defRPr sz="1800"/>
            </a:pPr>
            <a:r>
              <a:t>Systems Manager simplifies infrastructure management through centralized automation and secure access.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Core Features of AWS Systems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Session Manager – Secure browser-based shell access.</a:t>
            </a:r>
          </a:p>
          <a:p>
            <a:pPr>
              <a:defRPr sz="1800"/>
            </a:pPr>
            <a:r>
              <a:t>Run Command – Execute commands remotely on multiple instances.</a:t>
            </a:r>
          </a:p>
          <a:p>
            <a:pPr>
              <a:defRPr sz="1800"/>
            </a:pPr>
            <a:r>
              <a:t>Patch Manager – Automate operating system patching.</a:t>
            </a:r>
          </a:p>
          <a:p>
            <a:pPr>
              <a:defRPr sz="1800"/>
            </a:pPr>
            <a:r>
              <a:t>Automation – Automate operational workflows.</a:t>
            </a:r>
          </a:p>
          <a:p>
            <a:pPr>
              <a:defRPr sz="1800"/>
            </a:pPr>
            <a:r>
              <a:t>Parameter Store – Secure configuration and parameter management.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Session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Provides secure shell access directly from AWS Console.</a:t>
            </a:r>
          </a:p>
          <a:p>
            <a:pPr>
              <a:defRPr sz="1800"/>
            </a:pPr>
            <a:r>
              <a:t>No SSH keys, bastion hosts, or port 22 required.</a:t>
            </a:r>
          </a:p>
          <a:p>
            <a:pPr>
              <a:defRPr sz="1800"/>
            </a:pPr>
            <a:r>
              <a:t>Improves operational security and simplifies administration.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Architecture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Administrator → AWS Systems Manager → EC2 Instances</a:t>
            </a:r>
          </a:p>
          <a:p>
            <a:pPr>
              <a:defRPr sz="1800"/>
            </a:pPr>
            <a:r>
              <a:t>Secure remote administration without direct network exposure.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Hands-On Task Performed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Launched Amazon Linux EC2 instance.</a:t>
            </a:r>
          </a:p>
          <a:p>
            <a:pPr>
              <a:defRPr sz="1800"/>
            </a:pPr>
            <a:r>
              <a:t>Created IAM role for Systems Manager access.</a:t>
            </a:r>
          </a:p>
          <a:p>
            <a:pPr>
              <a:defRPr sz="1800"/>
            </a:pPr>
            <a:r>
              <a:t>Attached AmazonSSMManagedInstanceCore policy.</a:t>
            </a:r>
          </a:p>
          <a:p>
            <a:pPr>
              <a:defRPr sz="1800"/>
            </a:pPr>
            <a:r>
              <a:t>Connected to EC2 using Session Manager.</a:t>
            </a:r>
          </a:p>
          <a:p>
            <a:pPr>
              <a:defRPr sz="1800"/>
            </a:pPr>
            <a:r>
              <a:t>Executed remote commands using Run Command.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IAM Role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Created IAM role for EC2 service.</a:t>
            </a:r>
          </a:p>
          <a:p>
            <a:pPr>
              <a:defRPr sz="1800"/>
            </a:pPr>
            <a:r>
              <a:t>Attached AmazonSSMManagedInstanceCore managed policy.</a:t>
            </a:r>
          </a:p>
          <a:p>
            <a:pPr>
              <a:defRPr sz="1800"/>
            </a:pPr>
            <a:r>
              <a:t>Granted Systems Manager communication permissions.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EC2 Instance Configuration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Launched Amazon Linux 2023 EC2 instance.</a:t>
            </a:r>
          </a:p>
          <a:p>
            <a:pPr>
              <a:defRPr sz="1800"/>
            </a:pPr>
            <a:r>
              <a:t>Configured Systems Manager IAM role.</a:t>
            </a:r>
          </a:p>
          <a:p>
            <a:pPr>
              <a:defRPr sz="1800"/>
            </a:pPr>
            <a:r>
              <a:t>No SSH security group rule required.</a:t>
            </a:r>
          </a:p>
          <a:p>
            <a:pPr>
              <a:defRPr sz="1800"/>
            </a:pPr>
            <a:r>
              <a:t>Demonstrated secure management without public SSH access.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Managed Nodes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Verified instance registration under Systems Manager Managed Nodes.</a:t>
            </a:r>
          </a:p>
          <a:p>
            <a:pPr>
              <a:defRPr sz="1800"/>
            </a:pPr>
            <a:r>
              <a:t>Confirmed SSM Agent communication with AWS.</a:t>
            </a:r>
          </a:p>
          <a:p>
            <a:pPr>
              <a:defRPr sz="1800"/>
            </a:pPr>
            <a:r>
              <a:t>Validated managed status of EC2 instance.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Connecting Using Session Manager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Connected to EC2 instance directly from AWS Console.</a:t>
            </a:r>
          </a:p>
          <a:p>
            <a:pPr>
              <a:defRPr sz="1800"/>
            </a:pPr>
            <a:r>
              <a:t>No PEM key or SSH client required.</a:t>
            </a:r>
          </a:p>
          <a:p>
            <a:pPr>
              <a:defRPr sz="1800"/>
            </a:pPr>
            <a:r>
              <a:t>Enabled secure browser-based administrative access.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Run Command Feature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Executed shell commands remotely across EC2 instances.</a:t>
            </a:r>
          </a:p>
          <a:p>
            <a:pPr>
              <a:defRPr sz="1800"/>
            </a:pPr>
            <a:r>
              <a:t>Used AWS-RunShellScript document.</a:t>
            </a:r>
          </a:p>
          <a:p>
            <a:pPr>
              <a:defRPr sz="1800"/>
            </a:pPr>
            <a:r>
              <a:t>Collected command execution output centrally.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Commands Executed During Demo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hostname</a:t>
            </a:r>
          </a:p>
          <a:p>
            <a:pPr>
              <a:defRPr sz="1800"/>
            </a:pPr>
            <a:r>
              <a:t>df -h</a:t>
            </a:r>
          </a:p>
          <a:p>
            <a:pPr>
              <a:defRPr sz="1800"/>
            </a:pPr>
            <a:r>
              <a:t>sudo yum install httpd -y</a:t>
            </a:r>
          </a:p>
          <a:p>
            <a:pPr>
              <a:defRPr sz="1800"/>
            </a:pPr>
            <a:r>
              <a:t>sudo systemctl start httpd</a:t>
            </a:r>
          </a:p>
          <a:p>
            <a:pPr>
              <a:defRPr sz="1800"/>
            </a:pPr>
            <a:r>
              <a:t>sudo systemctl enable httpd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Security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Eliminates dependency on SSH port 22.</a:t>
            </a:r>
          </a:p>
          <a:p>
            <a:pPr>
              <a:defRPr sz="1800"/>
            </a:pPr>
            <a:r>
              <a:t>Removes need for SSH key management.</a:t>
            </a:r>
          </a:p>
          <a:p>
            <a:pPr>
              <a:defRPr sz="1800"/>
            </a:pPr>
            <a:r>
              <a:t>Supports IAM-based access control.</a:t>
            </a:r>
          </a:p>
          <a:p>
            <a:pPr>
              <a:defRPr sz="1800"/>
            </a:pPr>
            <a:r>
              <a:t>Provides secure audit logging and session tracking.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Operational Benefits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Centralized server administration.</a:t>
            </a:r>
          </a:p>
          <a:p>
            <a:pPr>
              <a:defRPr sz="1800"/>
            </a:pPr>
            <a:r>
              <a:t>Remote execution across multiple servers.</a:t>
            </a:r>
          </a:p>
          <a:p>
            <a:pPr>
              <a:defRPr sz="1800"/>
            </a:pPr>
            <a:r>
              <a:t>Automated patching and maintenance.</a:t>
            </a:r>
          </a:p>
          <a:p>
            <a:pPr>
              <a:defRPr sz="1800"/>
            </a:pPr>
            <a:r>
              <a:t>Improved compliance and governance.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Systems Manager vs Traditional SSH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Traditional SSH requires open port 22 and PEM keys.</a:t>
            </a:r>
          </a:p>
          <a:p>
            <a:pPr>
              <a:defRPr sz="1800"/>
            </a:pPr>
            <a:r>
              <a:t>Systems Manager provides secure browser-based access.</a:t>
            </a:r>
          </a:p>
          <a:p>
            <a:pPr>
              <a:defRPr sz="1800"/>
            </a:pPr>
            <a:r>
              <a:t>Improves security posture and operational simplicity.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Real World Use Cases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Enterprise server administration</a:t>
            </a:r>
          </a:p>
          <a:p>
            <a:pPr>
              <a:defRPr sz="1800"/>
            </a:pPr>
            <a:r>
              <a:t>Patch management for EC2 fleets</a:t>
            </a:r>
          </a:p>
          <a:p>
            <a:pPr>
              <a:defRPr sz="1800"/>
            </a:pPr>
            <a:r>
              <a:t>Secure remote troubleshooting</a:t>
            </a:r>
          </a:p>
          <a:p>
            <a:pPr>
              <a:defRPr sz="1800"/>
            </a:pPr>
            <a:r>
              <a:t>Automation of operational tasks</a:t>
            </a:r>
          </a:p>
          <a:p>
            <a:pPr>
              <a:defRPr sz="1800"/>
            </a:pPr>
            <a:r>
              <a:t>Compliance and inventory management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Interview Friendly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AWS Systems Manager is a management service that enables administrators</a:t>
            </a:r>
          </a:p>
          <a:p>
            <a:pPr>
              <a:defRPr sz="1800"/>
            </a:pPr>
            <a:r>
              <a:t>to securely manage AWS resources, automate operational tasks,</a:t>
            </a:r>
          </a:p>
          <a:p>
            <a:pPr>
              <a:defRPr sz="1800"/>
            </a:pPr>
            <a:r>
              <a:t>execute remote commands, and access EC2 instances without SSH.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400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800"/>
            </a:pPr>
            <a:r>
              <a:t>Successfully implemented secure EC2 administration using AWS Systems Manager.</a:t>
            </a:r>
          </a:p>
          <a:p>
            <a:pPr>
              <a:defRPr sz="1800"/>
            </a:pPr>
            <a:r>
              <a:t>Demonstrated Session Manager and Run Command features.</a:t>
            </a:r>
          </a:p>
          <a:p>
            <a:pPr>
              <a:defRPr sz="1800"/>
            </a:pPr>
            <a:r>
              <a:t>Built a secure and scalable server management architecture.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AWS Systems Manager Hands-On Demonstration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9D5"/>
      </a:lt2>
      <a:accent1>
        <a:srgbClr val="FB8C29"/>
      </a:accent1>
      <a:accent2>
        <a:srgbClr val="F2C351"/>
      </a:accent2>
      <a:accent3>
        <a:srgbClr val="D0CBA5"/>
      </a:accent3>
      <a:accent4>
        <a:srgbClr val="A2C476"/>
      </a:accent4>
      <a:accent5>
        <a:srgbClr val="57C293"/>
      </a:accent5>
      <a:accent6>
        <a:srgbClr val="43BFDE"/>
      </a:accent6>
      <a:hlink>
        <a:srgbClr val="FBAE29"/>
      </a:hlink>
      <a:folHlink>
        <a:srgbClr val="EDC47E"/>
      </a:folHlink>
    </a:clrScheme>
    <a:fontScheme name="Gallery">
      <a:majorFont>
        <a:latin typeface="Rockwell" panose="020606030202050204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Rockwell" panose="020606030202050204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BB5F5D82-B5E9-469E-A815-C655ED4AF243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TM10001114[[fn=Gallery]]</Template>
  <TotalTime>4</TotalTime>
  <Words>550</Words>
  <Application>Microsoft Office PowerPoint</Application>
  <PresentationFormat>On-screen Show (4:3)</PresentationFormat>
  <Paragraphs>86</Paragraphs>
  <Slides>20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3" baseType="lpstr">
      <vt:lpstr>Arial</vt:lpstr>
      <vt:lpstr>Rockwell</vt:lpstr>
      <vt:lpstr>Gallery</vt:lpstr>
      <vt:lpstr>AWS Systems Manager (SSM)</vt:lpstr>
      <vt:lpstr>Introduction to AWS Systems Manager</vt:lpstr>
      <vt:lpstr>Business Need for Systems Manager</vt:lpstr>
      <vt:lpstr>Core Features of AWS Systems Manager</vt:lpstr>
      <vt:lpstr>Session Manager</vt:lpstr>
      <vt:lpstr>Architecture Overview</vt:lpstr>
      <vt:lpstr>Hands-On Task Performed</vt:lpstr>
      <vt:lpstr>IAM Role Configuration</vt:lpstr>
      <vt:lpstr>EC2 Instance Configuration</vt:lpstr>
      <vt:lpstr>Managed Nodes</vt:lpstr>
      <vt:lpstr>Connecting Using Session Manager</vt:lpstr>
      <vt:lpstr>Run Command Feature</vt:lpstr>
      <vt:lpstr>Commands Executed During Demo</vt:lpstr>
      <vt:lpstr>Security Benefits</vt:lpstr>
      <vt:lpstr>Operational Benefits</vt:lpstr>
      <vt:lpstr>Systems Manager vs Traditional SSH</vt:lpstr>
      <vt:lpstr>Real World Use Cases</vt:lpstr>
      <vt:lpstr>Interview Friendly Definition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Syed Taha Quadri</dc:creator>
  <cp:keywords/>
  <dc:description>generated using python-pptx</dc:description>
  <cp:lastModifiedBy>Syed Taha Quadri</cp:lastModifiedBy>
  <cp:revision>2</cp:revision>
  <dcterms:created xsi:type="dcterms:W3CDTF">2013-01-27T09:14:16Z</dcterms:created>
  <dcterms:modified xsi:type="dcterms:W3CDTF">2026-05-08T07:03:35Z</dcterms:modified>
  <cp:category/>
</cp:coreProperties>
</file>